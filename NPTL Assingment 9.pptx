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C081CA3-794B-40E1-B22B-C44BE71F6A4C}" v="12" dt="2025-03-24T14:12:44.55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1436AF-FC9C-DE11-7A5A-199660F9330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501D37C-EF81-723F-8E45-8CC4EF8D0C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1B8B7EA-304E-4B17-2603-A80195B0802E}"/>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8B23CB23-3CBC-2E56-BC7E-D619596A5F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166DF0-B35E-A2C9-A08B-E475B83DF22C}"/>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4861232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3617E-F89F-2101-483C-5AD90AD57A7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214ADD2-5C5F-0292-7A52-08AB981D85E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0260BD-F78E-4C53-0A4D-0AE0FFEB92E6}"/>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968FDB7A-4E1E-E819-75BE-AF966CD3FA0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74DB80E-8331-3728-04D5-7C8EAC2C4772}"/>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321890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4C9FF-062C-89D0-27F3-3FAC39B015A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E49AC598-4F9A-43AB-1201-D74ABF40F19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387D4CA-CBD6-6CAC-25EE-AAC27F8398F2}"/>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1AA22A35-B358-EF5A-D2CC-50934620E8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59442C7-0088-6250-F409-A4E4493EDD98}"/>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11702819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691D-A121-25F0-A3EA-558379DB7AC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405DBB-9DD6-3972-C0CE-98A4CC3033F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89E80D2-23FD-2534-3B09-105F1EE1512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71761A63-4585-8BCB-5400-CFA4727F7B64}"/>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6" name="Footer Placeholder 5">
            <a:extLst>
              <a:ext uri="{FF2B5EF4-FFF2-40B4-BE49-F238E27FC236}">
                <a16:creationId xmlns:a16="http://schemas.microsoft.com/office/drawing/2014/main" id="{0B05F5AA-9695-78FA-CED1-729A652264E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D95C782-4B21-5C61-C4DB-BBB50F19300D}"/>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109037540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F956-86F9-1D22-D9A5-A6A0824FFE2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A45D706-DB2B-87B7-B251-302E5D338F2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D61195-F402-46CF-410A-135467CFA3C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F54F1F7A-24D1-6937-D23C-8F2B7E82B07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F47CFE1-2E5C-815F-3179-E3FA511A6C1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6B74A7B-7866-E7EA-3787-7AD2EA210059}"/>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8" name="Footer Placeholder 7">
            <a:extLst>
              <a:ext uri="{FF2B5EF4-FFF2-40B4-BE49-F238E27FC236}">
                <a16:creationId xmlns:a16="http://schemas.microsoft.com/office/drawing/2014/main" id="{CAB8BA4E-3685-F947-5D89-F7013DEB5D0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E92BB91-1277-E37C-092C-3EC16F902968}"/>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23539984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DE09D-0CCB-903A-A058-75172BFBDF9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BEA488C-06F9-93A5-A0AD-0CEF4208D1A5}"/>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4" name="Footer Placeholder 3">
            <a:extLst>
              <a:ext uri="{FF2B5EF4-FFF2-40B4-BE49-F238E27FC236}">
                <a16:creationId xmlns:a16="http://schemas.microsoft.com/office/drawing/2014/main" id="{32FEEB74-1897-1807-7A38-0DBA2E2A8561}"/>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E5554FD-155C-0AC6-F643-40C6B85639E4}"/>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1502435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D3A912-18E9-69B6-687E-FB9E9C9540E3}"/>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3" name="Footer Placeholder 2">
            <a:extLst>
              <a:ext uri="{FF2B5EF4-FFF2-40B4-BE49-F238E27FC236}">
                <a16:creationId xmlns:a16="http://schemas.microsoft.com/office/drawing/2014/main" id="{82649197-6711-49C5-AC01-85CFF7F6981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124E922-05D6-6840-F62F-24F6510EAE25}"/>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001264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4A1BE-E818-0A9A-EE72-E2A25B58DF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FD6D37E-FF92-CE2D-36F8-763D6782B0D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E422335C-8367-2CA7-10E7-98D8F769BD9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6274E50-9621-0994-4B80-EF6354CCCC30}"/>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6" name="Footer Placeholder 5">
            <a:extLst>
              <a:ext uri="{FF2B5EF4-FFF2-40B4-BE49-F238E27FC236}">
                <a16:creationId xmlns:a16="http://schemas.microsoft.com/office/drawing/2014/main" id="{857FCF60-B1BD-A8D5-A5B2-D97487B5E5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0A92F7-F48E-EB5D-34CC-DB7ADED25D61}"/>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27464961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63923-D819-D590-2F9C-890B52EC864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DA58A63-6530-03BF-1DAC-243FDA6D5FC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BC93373C-D6C7-0B56-C6EA-9E2E63BD67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873DFCB-1E74-7A17-FCE1-A3B54A3898A8}"/>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6" name="Footer Placeholder 5">
            <a:extLst>
              <a:ext uri="{FF2B5EF4-FFF2-40B4-BE49-F238E27FC236}">
                <a16:creationId xmlns:a16="http://schemas.microsoft.com/office/drawing/2014/main" id="{4D2883C6-8A93-177D-7608-C302B8A7B5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C8AC55-D806-D451-2E95-A5D73D4958E9}"/>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527966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3CBF34-9A71-C3E1-07EF-70E597583A6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C2067B1-57E0-EB30-9F70-FBAC647FEEB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9E136E6-9872-4C70-BA2F-E49B9B8ECE62}"/>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476123CD-B80C-28EB-B8C9-EC74618089E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E8BF69-FD3B-F9E9-E0E9-4CFBB4365221}"/>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90555561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B604B-D138-EB41-3CFE-7020B28FC8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79601AF-D846-C841-CC2A-FE9BD78EC5B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9B381-FFFA-FDE9-FCA8-132AD930685B}"/>
              </a:ext>
            </a:extLst>
          </p:cNvPr>
          <p:cNvSpPr>
            <a:spLocks noGrp="1"/>
          </p:cNvSpPr>
          <p:nvPr>
            <p:ph type="dt" sz="half" idx="10"/>
          </p:nvPr>
        </p:nvSpPr>
        <p:spPr/>
        <p:txBody>
          <a:body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A88868AF-3B45-090C-4EC2-051BCC0438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1C96C0A-1C1E-A35F-77D9-EAB2A796F6B1}"/>
              </a:ext>
            </a:extLst>
          </p:cNvPr>
          <p:cNvSpPr>
            <a:spLocks noGrp="1"/>
          </p:cNvSpPr>
          <p:nvPr>
            <p:ph type="sldNum" sz="quarter" idx="12"/>
          </p:nvPr>
        </p:nvSpPr>
        <p:spPr/>
        <p:txBody>
          <a:bodyPr/>
          <a:lstStyle/>
          <a:p>
            <a:fld id="{B5451903-5091-434F-BB70-6A87462FA14A}" type="slidenum">
              <a:rPr lang="en-IN" smtClean="0"/>
              <a:t>‹#›</a:t>
            </a:fld>
            <a:endParaRPr lang="en-IN"/>
          </a:p>
        </p:txBody>
      </p:sp>
    </p:spTree>
    <p:extLst>
      <p:ext uri="{BB962C8B-B14F-4D97-AF65-F5344CB8AC3E}">
        <p14:creationId xmlns:p14="http://schemas.microsoft.com/office/powerpoint/2010/main" val="3942109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B4B3E92-CE0E-A8E3-BB65-312A9372367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E22D3E-8C3D-ABF5-8C5F-B911651C4C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B6DB9FD-A5CB-69AA-530F-E47204A679E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4FF4A35-DE7C-4315-93B2-F9C55E08B66D}" type="datetimeFigureOut">
              <a:rPr lang="en-IN" smtClean="0"/>
              <a:t>01-04-2025</a:t>
            </a:fld>
            <a:endParaRPr lang="en-IN"/>
          </a:p>
        </p:txBody>
      </p:sp>
      <p:sp>
        <p:nvSpPr>
          <p:cNvPr id="5" name="Footer Placeholder 4">
            <a:extLst>
              <a:ext uri="{FF2B5EF4-FFF2-40B4-BE49-F238E27FC236}">
                <a16:creationId xmlns:a16="http://schemas.microsoft.com/office/drawing/2014/main" id="{40EBC9D7-0CF9-9F63-28A7-4B8B0B076B5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532165C-04F0-2B4D-D6AF-FE28B793C5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5451903-5091-434F-BB70-6A87462FA14A}" type="slidenum">
              <a:rPr lang="en-IN" smtClean="0"/>
              <a:t>‹#›</a:t>
            </a:fld>
            <a:endParaRPr lang="en-IN"/>
          </a:p>
        </p:txBody>
      </p:sp>
    </p:spTree>
    <p:extLst>
      <p:ext uri="{BB962C8B-B14F-4D97-AF65-F5344CB8AC3E}">
        <p14:creationId xmlns:p14="http://schemas.microsoft.com/office/powerpoint/2010/main" val="4047792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8EC68B09-D435-1281-001E-B4DEA5436EE6}"/>
              </a:ext>
            </a:extLst>
          </p:cNvPr>
          <p:cNvSpPr>
            <a:spLocks noGrp="1" noChangeArrowheads="1"/>
          </p:cNvSpPr>
          <p:nvPr>
            <p:ph type="ctrTitle"/>
          </p:nvPr>
        </p:nvSpPr>
        <p:spPr bwMode="auto">
          <a:xfrm>
            <a:off x="490728" y="326719"/>
            <a:ext cx="1144415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1) which of the following statements is/are false?</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a] fog and edge computing are substitutes for cloud computing </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0" i="0" u="none" strike="noStrike" cap="none" normalizeH="0" baseline="0" dirty="0">
                <a:ln>
                  <a:noFill/>
                </a:ln>
                <a:solidFill>
                  <a:schemeClr val="tx1"/>
                </a:solidFill>
                <a:effectLst/>
                <a:latin typeface="Arial" panose="020B0604020202020204" pitchFamily="34" charset="0"/>
              </a:rPr>
              <a:t>b] fog and edge computing may aid cloud computing in overcoming some of the limitations like latency </a:t>
            </a:r>
            <a:r>
              <a:rPr kumimoji="0" lang="en-US" altLang="en-US" sz="1800" b="0" i="0" u="none" strike="noStrike" cap="none" normalizeH="0" baseline="0" dirty="0" err="1">
                <a:ln>
                  <a:noFill/>
                </a:ln>
                <a:solidFill>
                  <a:schemeClr val="tx1"/>
                </a:solidFill>
                <a:effectLst/>
                <a:latin typeface="Arial" panose="020B0604020202020204" pitchFamily="34" charset="0"/>
              </a:rPr>
              <a:t>issuues</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TextBox 5">
            <a:extLst>
              <a:ext uri="{FF2B5EF4-FFF2-40B4-BE49-F238E27FC236}">
                <a16:creationId xmlns:a16="http://schemas.microsoft.com/office/drawing/2014/main" id="{7DF4B82B-0BAA-505F-2F13-802FDA7FBB47}"/>
              </a:ext>
            </a:extLst>
          </p:cNvPr>
          <p:cNvSpPr txBox="1"/>
          <p:nvPr/>
        </p:nvSpPr>
        <p:spPr>
          <a:xfrm>
            <a:off x="490728" y="1311807"/>
            <a:ext cx="6094476" cy="4801314"/>
          </a:xfrm>
          <a:prstGeom prst="rect">
            <a:avLst/>
          </a:prstGeom>
          <a:noFill/>
        </p:spPr>
        <p:txBody>
          <a:bodyPr wrap="square">
            <a:spAutoFit/>
          </a:bodyPr>
          <a:lstStyle/>
          <a:p>
            <a:r>
              <a:rPr lang="en-US" dirty="0"/>
              <a:t>Let's analyze both statements:</a:t>
            </a:r>
          </a:p>
          <a:p>
            <a:r>
              <a:rPr lang="en-US" b="1" dirty="0"/>
              <a:t>a] Fog and edge computing are substitutes for cloud computing.</a:t>
            </a:r>
            <a:br>
              <a:rPr lang="en-US" dirty="0"/>
            </a:br>
            <a:r>
              <a:rPr lang="en-US" dirty="0"/>
              <a:t>❌ </a:t>
            </a:r>
            <a:r>
              <a:rPr lang="en-US" b="1" dirty="0"/>
              <a:t>False</a:t>
            </a:r>
            <a:r>
              <a:rPr lang="en-US" dirty="0"/>
              <a:t> – Fog and edge computing are not direct substitutes for cloud computing. Instead, they extend cloud computing by bringing computation closer to the source of data (e.g., IoT devices) to reduce latency and improve efficiency. Cloud computing is still essential for large-scale data storage and processing.</a:t>
            </a:r>
          </a:p>
          <a:p>
            <a:r>
              <a:rPr lang="en-US" b="1" dirty="0"/>
              <a:t>b] Fog and edge computing may aid cloud computing in overcoming some of the limitations like latency issues.</a:t>
            </a:r>
            <a:br>
              <a:rPr lang="en-US" dirty="0"/>
            </a:br>
            <a:r>
              <a:rPr lang="en-US" dirty="0"/>
              <a:t>✅ </a:t>
            </a:r>
            <a:r>
              <a:rPr lang="en-US" b="1" dirty="0"/>
              <a:t>True</a:t>
            </a:r>
            <a:r>
              <a:rPr lang="en-US" dirty="0"/>
              <a:t> – Fog and edge computing help reduce latency by processing data closer to where it is generated, rather than sending it to a distant cloud server. This can improve real-time processing and reduce the burden on cloud infrastructure.</a:t>
            </a:r>
          </a:p>
          <a:p>
            <a:r>
              <a:rPr lang="en-US" b="1" dirty="0"/>
              <a:t>Answer:</a:t>
            </a:r>
          </a:p>
          <a:p>
            <a:r>
              <a:rPr lang="en-US" dirty="0"/>
              <a:t>The false statement is </a:t>
            </a:r>
            <a:r>
              <a:rPr lang="en-US" b="1" dirty="0"/>
              <a:t>(a)</a:t>
            </a:r>
            <a:endParaRPr lang="en-US" dirty="0"/>
          </a:p>
        </p:txBody>
      </p:sp>
    </p:spTree>
    <p:extLst>
      <p:ext uri="{BB962C8B-B14F-4D97-AF65-F5344CB8AC3E}">
        <p14:creationId xmlns:p14="http://schemas.microsoft.com/office/powerpoint/2010/main" val="3928330442"/>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427021-4565-CCE7-8BA8-E5BC083A0DFB}"/>
              </a:ext>
            </a:extLst>
          </p:cNvPr>
          <p:cNvSpPr>
            <a:spLocks noGrp="1"/>
          </p:cNvSpPr>
          <p:nvPr>
            <p:ph idx="1"/>
          </p:nvPr>
        </p:nvSpPr>
        <p:spPr>
          <a:xfrm>
            <a:off x="316992" y="262001"/>
            <a:ext cx="10515600" cy="1255903"/>
          </a:xfrm>
        </p:spPr>
        <p:txBody>
          <a:bodyPr>
            <a:noAutofit/>
          </a:bodyPr>
          <a:lstStyle/>
          <a:p>
            <a:pPr marL="0" indent="0">
              <a:buNone/>
            </a:pPr>
            <a:r>
              <a:rPr lang="en-US" sz="1800" dirty="0"/>
              <a:t>2) Which of the following is not a layer of the Cloud-Fog environment mode? </a:t>
            </a:r>
          </a:p>
          <a:p>
            <a:pPr marL="0" indent="0">
              <a:buNone/>
            </a:pPr>
            <a:r>
              <a:rPr lang="en-US" sz="1800" dirty="0"/>
              <a:t>a] client layer</a:t>
            </a:r>
          </a:p>
          <a:p>
            <a:pPr marL="0" indent="0">
              <a:buNone/>
            </a:pPr>
            <a:r>
              <a:rPr lang="en-US" sz="1800" dirty="0"/>
              <a:t> b] Serverless layer </a:t>
            </a:r>
          </a:p>
          <a:p>
            <a:pPr marL="0" indent="0">
              <a:buNone/>
            </a:pPr>
            <a:r>
              <a:rPr lang="en-US" sz="1800" dirty="0"/>
              <a:t>c]Fog layer</a:t>
            </a:r>
          </a:p>
          <a:p>
            <a:pPr marL="0" indent="0">
              <a:buNone/>
            </a:pPr>
            <a:r>
              <a:rPr lang="en-US" sz="1800" dirty="0"/>
              <a:t> d] Cloud layer</a:t>
            </a:r>
            <a:endParaRPr lang="en-IN" sz="1800" dirty="0"/>
          </a:p>
        </p:txBody>
      </p:sp>
      <p:sp>
        <p:nvSpPr>
          <p:cNvPr id="4" name="Rectangle 1">
            <a:extLst>
              <a:ext uri="{FF2B5EF4-FFF2-40B4-BE49-F238E27FC236}">
                <a16:creationId xmlns:a16="http://schemas.microsoft.com/office/drawing/2014/main" id="{FA866C5C-3521-84AA-1E41-47CA539901CE}"/>
              </a:ext>
            </a:extLst>
          </p:cNvPr>
          <p:cNvSpPr>
            <a:spLocks noChangeArrowheads="1"/>
          </p:cNvSpPr>
          <p:nvPr/>
        </p:nvSpPr>
        <p:spPr bwMode="auto">
          <a:xfrm>
            <a:off x="222815" y="2295301"/>
            <a:ext cx="10854253" cy="30008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dirty="0">
                <a:ln>
                  <a:noFill/>
                </a:ln>
                <a:solidFill>
                  <a:schemeClr val="tx1"/>
                </a:solidFill>
                <a:effectLst/>
                <a:latin typeface="Arial" panose="020B0604020202020204" pitchFamily="34" charset="0"/>
              </a:rPr>
              <a:t>The </a:t>
            </a:r>
            <a:r>
              <a:rPr kumimoji="0" lang="en-US" altLang="en-US" sz="1800" b="1" i="0" u="none" strike="noStrike" cap="none" normalizeH="0" baseline="0" dirty="0">
                <a:ln>
                  <a:noFill/>
                </a:ln>
                <a:solidFill>
                  <a:schemeClr val="tx1"/>
                </a:solidFill>
                <a:effectLst/>
                <a:latin typeface="Arial" panose="020B0604020202020204" pitchFamily="34" charset="0"/>
              </a:rPr>
              <a:t>Cloud-Fog environment model</a:t>
            </a:r>
            <a:r>
              <a:rPr kumimoji="0" lang="en-US" altLang="en-US" sz="1800" b="0" i="0" u="none" strike="noStrike" cap="none" normalizeH="0" baseline="0" dirty="0">
                <a:ln>
                  <a:noFill/>
                </a:ln>
                <a:solidFill>
                  <a:schemeClr val="tx1"/>
                </a:solidFill>
                <a:effectLst/>
                <a:latin typeface="Arial" panose="020B0604020202020204" pitchFamily="34" charset="0"/>
              </a:rPr>
              <a:t> typically consists of the following layers: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Client Layer</a:t>
            </a:r>
            <a:r>
              <a:rPr kumimoji="0" lang="en-US" altLang="en-US" sz="1800" b="0" i="0" u="none" strike="noStrike" cap="none" normalizeH="0" baseline="0" dirty="0">
                <a:ln>
                  <a:noFill/>
                </a:ln>
                <a:solidFill>
                  <a:schemeClr val="tx1"/>
                </a:solidFill>
                <a:effectLst/>
                <a:latin typeface="Arial" panose="020B0604020202020204" pitchFamily="34" charset="0"/>
              </a:rPr>
              <a:t> (Devices/Users interacting with the system)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Fog Layer</a:t>
            </a:r>
            <a:r>
              <a:rPr kumimoji="0" lang="en-US" altLang="en-US" sz="1800" b="0" i="0" u="none" strike="noStrike" cap="none" normalizeH="0" baseline="0" dirty="0">
                <a:ln>
                  <a:noFill/>
                </a:ln>
                <a:solidFill>
                  <a:schemeClr val="tx1"/>
                </a:solidFill>
                <a:effectLst/>
                <a:latin typeface="Arial" panose="020B0604020202020204" pitchFamily="34" charset="0"/>
              </a:rPr>
              <a:t> (Intermediate layer processing data closer to the source)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Cloud Layer</a:t>
            </a:r>
            <a:r>
              <a:rPr kumimoji="0" lang="en-US" altLang="en-US" sz="1800" b="0" i="0" u="none" strike="noStrike" cap="none" normalizeH="0" baseline="0" dirty="0">
                <a:ln>
                  <a:noFill/>
                </a:ln>
                <a:solidFill>
                  <a:schemeClr val="tx1"/>
                </a:solidFill>
                <a:effectLst/>
                <a:latin typeface="Arial" panose="020B0604020202020204" pitchFamily="34" charset="0"/>
              </a:rPr>
              <a:t> (Centralized cloud infrastructure for storage and computing) ✅</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1" i="0" u="none" strike="noStrike" cap="none" normalizeH="0" baseline="0" dirty="0">
                <a:ln>
                  <a:noFill/>
                </a:ln>
                <a:solidFill>
                  <a:schemeClr val="tx1"/>
                </a:solidFill>
                <a:effectLst/>
                <a:latin typeface="Arial" panose="020B0604020202020204" pitchFamily="34" charset="0"/>
              </a:rPr>
              <a:t>a] Client layer</a:t>
            </a:r>
            <a:r>
              <a:rPr kumimoji="0" lang="en-US" altLang="en-US" sz="1800" b="0" i="0" u="none" strike="noStrike" cap="none" normalizeH="0" baseline="0" dirty="0">
                <a:ln>
                  <a:noFill/>
                </a:ln>
                <a:solidFill>
                  <a:schemeClr val="tx1"/>
                </a:solidFill>
                <a:effectLst/>
                <a:latin typeface="Arial" panose="020B0604020202020204" pitchFamily="34" charset="0"/>
              </a:rPr>
              <a:t> → ✅ </a:t>
            </a:r>
            <a:r>
              <a:rPr kumimoji="0" lang="en-US" altLang="en-US" sz="1800" b="1" i="0" u="none" strike="noStrike" cap="none" normalizeH="0" baseline="0" dirty="0">
                <a:ln>
                  <a:noFill/>
                </a:ln>
                <a:solidFill>
                  <a:schemeClr val="tx1"/>
                </a:solidFill>
                <a:effectLst/>
                <a:latin typeface="Arial" panose="020B0604020202020204" pitchFamily="34" charset="0"/>
              </a:rPr>
              <a:t>Exists</a:t>
            </a:r>
            <a:r>
              <a:rPr kumimoji="0" lang="en-US" altLang="en-US" sz="1800" b="0" i="0" u="none" strike="noStrike" cap="none" normalizeH="0" baseline="0" dirty="0">
                <a:ln>
                  <a:noFill/>
                </a:ln>
                <a:solidFill>
                  <a:schemeClr val="tx1"/>
                </a:solidFill>
                <a:effectLst/>
                <a:latin typeface="Arial" panose="020B0604020202020204" pitchFamily="34" charset="0"/>
              </a:rPr>
              <a:t> in the model.</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b] Serverless layer</a:t>
            </a:r>
            <a:r>
              <a:rPr kumimoji="0" lang="en-US" altLang="en-US" sz="1800" b="0" i="0" u="none" strike="noStrike" cap="none" normalizeH="0" baseline="0" dirty="0">
                <a:ln>
                  <a:noFill/>
                </a:ln>
                <a:solidFill>
                  <a:schemeClr val="tx1"/>
                </a:solidFill>
                <a:effectLst/>
                <a:latin typeface="Arial" panose="020B0604020202020204" pitchFamily="34" charset="0"/>
              </a:rPr>
              <a:t> → ❌ </a:t>
            </a:r>
            <a:r>
              <a:rPr kumimoji="0" lang="en-US" altLang="en-US" sz="1800" b="1" i="0" u="none" strike="noStrike" cap="none" normalizeH="0" baseline="0" dirty="0">
                <a:ln>
                  <a:noFill/>
                </a:ln>
                <a:solidFill>
                  <a:schemeClr val="tx1"/>
                </a:solidFill>
                <a:effectLst/>
                <a:latin typeface="Arial" panose="020B0604020202020204" pitchFamily="34" charset="0"/>
              </a:rPr>
              <a:t>Not a standard layer</a:t>
            </a:r>
            <a:r>
              <a:rPr kumimoji="0" lang="en-US" altLang="en-US" sz="1800" b="0" i="0" u="none" strike="noStrike" cap="none" normalizeH="0" baseline="0" dirty="0">
                <a:ln>
                  <a:noFill/>
                </a:ln>
                <a:solidFill>
                  <a:schemeClr val="tx1"/>
                </a:solidFill>
                <a:effectLst/>
                <a:latin typeface="Arial" panose="020B0604020202020204" pitchFamily="34" charset="0"/>
              </a:rPr>
              <a:t> in the Cloud-Fog model.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1" u="none" strike="noStrike" cap="none" normalizeH="0" baseline="0" dirty="0">
                <a:ln>
                  <a:noFill/>
                </a:ln>
                <a:solidFill>
                  <a:schemeClr val="tx1"/>
                </a:solidFill>
                <a:effectLst/>
                <a:latin typeface="Arial" panose="020B0604020202020204" pitchFamily="34" charset="0"/>
              </a:rPr>
              <a:t>Serverless computing</a:t>
            </a:r>
            <a:r>
              <a:rPr kumimoji="0" lang="en-US" altLang="en-US" sz="1800" b="0" i="0" u="none" strike="noStrike" cap="none" normalizeH="0" baseline="0" dirty="0">
                <a:ln>
                  <a:noFill/>
                </a:ln>
                <a:solidFill>
                  <a:schemeClr val="tx1"/>
                </a:solidFill>
                <a:effectLst/>
                <a:latin typeface="Arial" panose="020B0604020202020204" pitchFamily="34" charset="0"/>
              </a:rPr>
              <a:t> is a concept in cloud computing, but it is not a layer in the Cloud-Fog environment.</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c] Fog layer</a:t>
            </a:r>
            <a:r>
              <a:rPr kumimoji="0" lang="en-US" altLang="en-US" sz="1800" b="0" i="0" u="none" strike="noStrike" cap="none" normalizeH="0" baseline="0" dirty="0">
                <a:ln>
                  <a:noFill/>
                </a:ln>
                <a:solidFill>
                  <a:schemeClr val="tx1"/>
                </a:solidFill>
                <a:effectLst/>
                <a:latin typeface="Arial" panose="020B0604020202020204" pitchFamily="34" charset="0"/>
              </a:rPr>
              <a:t> → ✅ Exists.</a:t>
            </a:r>
            <a:br>
              <a:rPr kumimoji="0" lang="en-US" altLang="en-US" sz="1800" b="0" i="0" u="none" strike="noStrike" cap="none" normalizeH="0" baseline="0" dirty="0">
                <a:ln>
                  <a:noFill/>
                </a:ln>
                <a:solidFill>
                  <a:schemeClr val="tx1"/>
                </a:solidFill>
                <a:effectLst/>
                <a:latin typeface="Arial" panose="020B0604020202020204" pitchFamily="34" charset="0"/>
              </a:rPr>
            </a:br>
            <a:r>
              <a:rPr kumimoji="0" lang="en-US" altLang="en-US" sz="1800" b="1" i="0" u="none" strike="noStrike" cap="none" normalizeH="0" baseline="0" dirty="0">
                <a:ln>
                  <a:noFill/>
                </a:ln>
                <a:solidFill>
                  <a:schemeClr val="tx1"/>
                </a:solidFill>
                <a:effectLst/>
                <a:latin typeface="Arial" panose="020B0604020202020204" pitchFamily="34" charset="0"/>
              </a:rPr>
              <a:t>d] Cloud layer</a:t>
            </a:r>
            <a:r>
              <a:rPr kumimoji="0" lang="en-US" altLang="en-US" sz="1800" b="0" i="0" u="none" strike="noStrike" cap="none" normalizeH="0" baseline="0" dirty="0">
                <a:ln>
                  <a:noFill/>
                </a:ln>
                <a:solidFill>
                  <a:schemeClr val="tx1"/>
                </a:solidFill>
                <a:effectLst/>
                <a:latin typeface="Arial" panose="020B0604020202020204" pitchFamily="34" charset="0"/>
              </a:rPr>
              <a:t> → ✅ Exists.</a:t>
            </a:r>
            <a:endParaRPr kumimoji="0" lang="en-US" altLang="en-US" sz="9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900" b="1" i="0" u="none" strike="noStrike" cap="none" normalizeH="0" baseline="0" dirty="0">
                <a:ln>
                  <a:noFill/>
                </a:ln>
                <a:solidFill>
                  <a:schemeClr val="tx1"/>
                </a:solidFill>
                <a:effectLst/>
                <a:latin typeface="Arial" panose="020B0604020202020204" pitchFamily="34" charset="0"/>
              </a:rPr>
              <a:t>Correct answer: (b) Serverless layer</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3678380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DA86E3-1B2A-8288-D105-5FAA89B7EEFA}"/>
              </a:ext>
            </a:extLst>
          </p:cNvPr>
          <p:cNvSpPr>
            <a:spLocks noGrp="1"/>
          </p:cNvSpPr>
          <p:nvPr>
            <p:ph idx="1"/>
          </p:nvPr>
        </p:nvSpPr>
        <p:spPr>
          <a:xfrm>
            <a:off x="454152" y="472313"/>
            <a:ext cx="10515600" cy="4351338"/>
          </a:xfrm>
        </p:spPr>
        <p:txBody>
          <a:bodyPr>
            <a:normAutofit/>
          </a:bodyPr>
          <a:lstStyle/>
          <a:p>
            <a:pPr marL="0" indent="0">
              <a:buNone/>
            </a:pPr>
            <a:r>
              <a:rPr lang="en-US" sz="1600" dirty="0"/>
              <a:t>3) In the Cloud-Fog environment </a:t>
            </a:r>
            <a:r>
              <a:rPr lang="en-US" sz="1600" dirty="0" err="1"/>
              <a:t>model,servers</a:t>
            </a:r>
            <a:r>
              <a:rPr lang="en-US" sz="1600" dirty="0"/>
              <a:t> contain a fog server manager and virtual machines to manage requests by using _technique </a:t>
            </a:r>
          </a:p>
          <a:p>
            <a:pPr marL="0" indent="0">
              <a:buNone/>
            </a:pPr>
            <a:r>
              <a:rPr lang="en-US" sz="1600" dirty="0"/>
              <a:t>a] Image virtualization</a:t>
            </a:r>
          </a:p>
          <a:p>
            <a:pPr marL="0" indent="0">
              <a:buNone/>
            </a:pPr>
            <a:r>
              <a:rPr lang="en-US" sz="1600" dirty="0"/>
              <a:t>b] container </a:t>
            </a:r>
            <a:r>
              <a:rPr lang="en-US" sz="1600" dirty="0" err="1"/>
              <a:t>vitualization</a:t>
            </a:r>
            <a:r>
              <a:rPr lang="en-US" sz="1600" dirty="0"/>
              <a:t> </a:t>
            </a:r>
          </a:p>
          <a:p>
            <a:pPr marL="0" indent="0">
              <a:buNone/>
            </a:pPr>
            <a:r>
              <a:rPr lang="en-US" sz="1600" dirty="0"/>
              <a:t>c] Server virtualization </a:t>
            </a:r>
          </a:p>
          <a:p>
            <a:pPr marL="0" indent="0">
              <a:buNone/>
            </a:pPr>
            <a:r>
              <a:rPr lang="en-US" sz="1600" dirty="0"/>
              <a:t>d] None of these</a:t>
            </a:r>
            <a:endParaRPr lang="en-IN" sz="1600" dirty="0"/>
          </a:p>
        </p:txBody>
      </p:sp>
      <p:sp>
        <p:nvSpPr>
          <p:cNvPr id="5" name="TextBox 4">
            <a:extLst>
              <a:ext uri="{FF2B5EF4-FFF2-40B4-BE49-F238E27FC236}">
                <a16:creationId xmlns:a16="http://schemas.microsoft.com/office/drawing/2014/main" id="{52F8E59A-77CF-B60F-8247-7895302675B3}"/>
              </a:ext>
            </a:extLst>
          </p:cNvPr>
          <p:cNvSpPr txBox="1"/>
          <p:nvPr/>
        </p:nvSpPr>
        <p:spPr>
          <a:xfrm>
            <a:off x="322326" y="2405069"/>
            <a:ext cx="6094476" cy="3970318"/>
          </a:xfrm>
          <a:prstGeom prst="rect">
            <a:avLst/>
          </a:prstGeom>
          <a:noFill/>
        </p:spPr>
        <p:txBody>
          <a:bodyPr wrap="square">
            <a:spAutoFit/>
          </a:bodyPr>
          <a:lstStyle/>
          <a:p>
            <a:r>
              <a:rPr lang="en-US" b="1" dirty="0"/>
              <a:t>Let's analyze the options:</a:t>
            </a:r>
          </a:p>
          <a:p>
            <a:pPr>
              <a:buFont typeface="Arial" panose="020B0604020202020204" pitchFamily="34" charset="0"/>
              <a:buChar char="•"/>
            </a:pPr>
            <a:r>
              <a:rPr lang="en-US" b="1" dirty="0"/>
              <a:t>a] Image virtualization</a:t>
            </a:r>
            <a:r>
              <a:rPr lang="en-US" dirty="0"/>
              <a:t> → ❌ Not relevant in this context. Image virtualization deals with creating virtual machine (VM) images.</a:t>
            </a:r>
          </a:p>
          <a:p>
            <a:pPr>
              <a:buFont typeface="Arial" panose="020B0604020202020204" pitchFamily="34" charset="0"/>
              <a:buChar char="•"/>
            </a:pPr>
            <a:r>
              <a:rPr lang="en-US" b="1" dirty="0"/>
              <a:t>b] Container virtualization</a:t>
            </a:r>
            <a:r>
              <a:rPr lang="en-US" dirty="0"/>
              <a:t> → ✅ </a:t>
            </a:r>
            <a:r>
              <a:rPr lang="en-US" b="1" dirty="0"/>
              <a:t>Correct!</a:t>
            </a:r>
            <a:r>
              <a:rPr lang="en-US" dirty="0"/>
              <a:t> Containers (e.g., Docker, Kubernetes) are widely used in fog computing for their efficiency, scalability, and low overhead compared to traditional VMs.</a:t>
            </a:r>
          </a:p>
          <a:p>
            <a:pPr>
              <a:buFont typeface="Arial" panose="020B0604020202020204" pitchFamily="34" charset="0"/>
              <a:buChar char="•"/>
            </a:pPr>
            <a:r>
              <a:rPr lang="en-US" b="1" dirty="0"/>
              <a:t>c] Server virtualization</a:t>
            </a:r>
            <a:r>
              <a:rPr lang="en-US" dirty="0"/>
              <a:t> → ❌ While server virtualization is used in cloud environments, it is not as efficient as containers for fog computing, where low-latency processing is required.</a:t>
            </a:r>
          </a:p>
          <a:p>
            <a:pPr>
              <a:buFont typeface="Arial" panose="020B0604020202020204" pitchFamily="34" charset="0"/>
              <a:buChar char="•"/>
            </a:pPr>
            <a:r>
              <a:rPr lang="en-US" b="1" dirty="0"/>
              <a:t>d] None of these</a:t>
            </a:r>
            <a:r>
              <a:rPr lang="en-US" dirty="0"/>
              <a:t> → ❌ Incorrect, since container virtualization is the right choice.</a:t>
            </a:r>
          </a:p>
          <a:p>
            <a:r>
              <a:rPr lang="en-US" b="1" dirty="0"/>
              <a:t>Correct Answer: (b) Container virtualization</a:t>
            </a:r>
          </a:p>
        </p:txBody>
      </p:sp>
    </p:spTree>
    <p:extLst>
      <p:ext uri="{BB962C8B-B14F-4D97-AF65-F5344CB8AC3E}">
        <p14:creationId xmlns:p14="http://schemas.microsoft.com/office/powerpoint/2010/main" val="35441288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929B85CF-7234-13F3-A9EA-EA3BD86946D1}"/>
              </a:ext>
            </a:extLst>
          </p:cNvPr>
          <p:cNvSpPr>
            <a:spLocks noGrp="1"/>
          </p:cNvSpPr>
          <p:nvPr>
            <p:ph idx="1"/>
          </p:nvPr>
        </p:nvSpPr>
        <p:spPr>
          <a:xfrm>
            <a:off x="225679" y="380746"/>
            <a:ext cx="10515600" cy="4351338"/>
          </a:xfrm>
        </p:spPr>
        <p:txBody>
          <a:bodyPr>
            <a:normAutofit/>
          </a:bodyPr>
          <a:lstStyle/>
          <a:p>
            <a:pPr marL="0" indent="0">
              <a:buNone/>
            </a:pPr>
            <a:r>
              <a:rPr lang="en-US" sz="1800" dirty="0"/>
              <a:t>4) The </a:t>
            </a:r>
            <a:r>
              <a:rPr lang="en-US" sz="1800" dirty="0" err="1"/>
              <a:t>architechture</a:t>
            </a:r>
            <a:r>
              <a:rPr lang="en-US" sz="1800" dirty="0"/>
              <a:t> used for resource management in fog/edge computing is classified on the basis of which of the following? </a:t>
            </a:r>
          </a:p>
          <a:p>
            <a:pPr marL="0" indent="0">
              <a:buNone/>
            </a:pPr>
            <a:r>
              <a:rPr lang="en-US" sz="1800" dirty="0"/>
              <a:t>a] tenancy </a:t>
            </a:r>
          </a:p>
          <a:p>
            <a:pPr marL="0" indent="0">
              <a:buNone/>
            </a:pPr>
            <a:r>
              <a:rPr lang="en-US" sz="1800" dirty="0"/>
              <a:t>b] data flow </a:t>
            </a:r>
          </a:p>
          <a:p>
            <a:pPr marL="0" indent="0">
              <a:buNone/>
            </a:pPr>
            <a:r>
              <a:rPr lang="en-US" sz="1800" dirty="0"/>
              <a:t>c] hardware </a:t>
            </a:r>
          </a:p>
          <a:p>
            <a:pPr marL="0" indent="0">
              <a:buNone/>
            </a:pPr>
            <a:r>
              <a:rPr lang="en-US" sz="1800" dirty="0"/>
              <a:t>d] all of these</a:t>
            </a:r>
            <a:endParaRPr lang="en-IN" sz="1800" dirty="0"/>
          </a:p>
        </p:txBody>
      </p:sp>
      <p:sp>
        <p:nvSpPr>
          <p:cNvPr id="9" name="TextBox 8">
            <a:extLst>
              <a:ext uri="{FF2B5EF4-FFF2-40B4-BE49-F238E27FC236}">
                <a16:creationId xmlns:a16="http://schemas.microsoft.com/office/drawing/2014/main" id="{0E71ECE0-8659-C7FC-C05F-555210F4694C}"/>
              </a:ext>
            </a:extLst>
          </p:cNvPr>
          <p:cNvSpPr txBox="1"/>
          <p:nvPr/>
        </p:nvSpPr>
        <p:spPr>
          <a:xfrm>
            <a:off x="195326" y="2469309"/>
            <a:ext cx="6094476" cy="3693319"/>
          </a:xfrm>
          <a:prstGeom prst="rect">
            <a:avLst/>
          </a:prstGeom>
          <a:noFill/>
        </p:spPr>
        <p:txBody>
          <a:bodyPr wrap="square">
            <a:spAutoFit/>
          </a:bodyPr>
          <a:lstStyle/>
          <a:p>
            <a:r>
              <a:rPr lang="en-US" b="1" dirty="0"/>
              <a:t>Let's analyze the options:</a:t>
            </a:r>
          </a:p>
          <a:p>
            <a:pPr>
              <a:buFont typeface="Arial" panose="020B0604020202020204" pitchFamily="34" charset="0"/>
              <a:buChar char="•"/>
            </a:pPr>
            <a:r>
              <a:rPr lang="en-US" b="1" dirty="0"/>
              <a:t>a] Tenancy</a:t>
            </a:r>
            <a:r>
              <a:rPr lang="en-US" dirty="0"/>
              <a:t> → ✅ Relevant. Fog/edge computing can be </a:t>
            </a:r>
            <a:r>
              <a:rPr lang="en-US" b="1" dirty="0"/>
              <a:t>single-tenant or multi-tenant</a:t>
            </a:r>
            <a:r>
              <a:rPr lang="en-US" dirty="0"/>
              <a:t>, impacting how resources are allocated among users.</a:t>
            </a:r>
          </a:p>
          <a:p>
            <a:pPr>
              <a:buFont typeface="Arial" panose="020B0604020202020204" pitchFamily="34" charset="0"/>
              <a:buChar char="•"/>
            </a:pPr>
            <a:r>
              <a:rPr lang="en-US" b="1" dirty="0"/>
              <a:t>b] Data Flow</a:t>
            </a:r>
            <a:r>
              <a:rPr lang="en-US" dirty="0"/>
              <a:t> → ✅ Relevant. The architecture considers </a:t>
            </a:r>
            <a:r>
              <a:rPr lang="en-US" b="1" dirty="0"/>
              <a:t>how data moves</a:t>
            </a:r>
            <a:r>
              <a:rPr lang="en-US" dirty="0"/>
              <a:t> between edge devices, fog nodes, and the cloud.</a:t>
            </a:r>
          </a:p>
          <a:p>
            <a:pPr>
              <a:buFont typeface="Arial" panose="020B0604020202020204" pitchFamily="34" charset="0"/>
              <a:buChar char="•"/>
            </a:pPr>
            <a:r>
              <a:rPr lang="en-US" b="1" dirty="0"/>
              <a:t>c] Hardware</a:t>
            </a:r>
            <a:r>
              <a:rPr lang="en-US" dirty="0"/>
              <a:t> → ✅ Relevant. Different architectures depend on </a:t>
            </a:r>
            <a:r>
              <a:rPr lang="en-US" b="1" dirty="0"/>
              <a:t>the type of hardware</a:t>
            </a:r>
            <a:r>
              <a:rPr lang="en-US" dirty="0"/>
              <a:t> used, such as IoT devices, gateways, and servers.</a:t>
            </a:r>
          </a:p>
          <a:p>
            <a:pPr>
              <a:buFont typeface="Arial" panose="020B0604020202020204" pitchFamily="34" charset="0"/>
              <a:buChar char="•"/>
            </a:pPr>
            <a:r>
              <a:rPr lang="en-US" b="1" dirty="0"/>
              <a:t>d] All of these</a:t>
            </a:r>
            <a:r>
              <a:rPr lang="en-US" dirty="0"/>
              <a:t> → ✅ </a:t>
            </a:r>
            <a:r>
              <a:rPr lang="en-US" b="1" dirty="0"/>
              <a:t>Correct!</a:t>
            </a:r>
            <a:r>
              <a:rPr lang="en-US" dirty="0"/>
              <a:t> Since all the above factors influence resource management architecture in fog/edge computing.</a:t>
            </a:r>
          </a:p>
          <a:p>
            <a:r>
              <a:rPr lang="en-US" b="1" dirty="0"/>
              <a:t>Correct Answer: (d) All of these</a:t>
            </a:r>
          </a:p>
        </p:txBody>
      </p:sp>
    </p:spTree>
    <p:extLst>
      <p:ext uri="{BB962C8B-B14F-4D97-AF65-F5344CB8AC3E}">
        <p14:creationId xmlns:p14="http://schemas.microsoft.com/office/powerpoint/2010/main" val="9191239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884EDDF-95A9-B763-1C13-7B9E15755B00}"/>
              </a:ext>
            </a:extLst>
          </p:cNvPr>
          <p:cNvSpPr>
            <a:spLocks noGrp="1"/>
          </p:cNvSpPr>
          <p:nvPr>
            <p:ph idx="1"/>
          </p:nvPr>
        </p:nvSpPr>
        <p:spPr>
          <a:xfrm>
            <a:off x="307975" y="490538"/>
            <a:ext cx="10515600" cy="4351337"/>
          </a:xfrm>
        </p:spPr>
        <p:txBody>
          <a:bodyPr>
            <a:normAutofit/>
          </a:bodyPr>
          <a:lstStyle/>
          <a:p>
            <a:pPr marL="0" indent="0">
              <a:buNone/>
            </a:pPr>
            <a:r>
              <a:rPr lang="en-US" sz="1800" dirty="0"/>
              <a:t>5) Which of the following underlying algorithm(s) is used to </a:t>
            </a:r>
            <a:r>
              <a:rPr lang="en-US" sz="1800" dirty="0" err="1"/>
              <a:t>facilitiate</a:t>
            </a:r>
            <a:r>
              <a:rPr lang="en-US" sz="1800" dirty="0"/>
              <a:t> fog/edge computing ? </a:t>
            </a:r>
          </a:p>
          <a:p>
            <a:pPr marL="0" indent="0">
              <a:buNone/>
            </a:pPr>
            <a:r>
              <a:rPr lang="en-US" sz="1800" dirty="0"/>
              <a:t>a] Discovery </a:t>
            </a:r>
          </a:p>
          <a:p>
            <a:pPr marL="0" indent="0">
              <a:buNone/>
            </a:pPr>
            <a:r>
              <a:rPr lang="en-US" sz="1800" dirty="0"/>
              <a:t>b] Load balancing </a:t>
            </a:r>
          </a:p>
          <a:p>
            <a:pPr marL="0" indent="0">
              <a:buNone/>
            </a:pPr>
            <a:r>
              <a:rPr lang="en-US" sz="1800" dirty="0"/>
              <a:t>c] </a:t>
            </a:r>
            <a:r>
              <a:rPr lang="en-US" sz="1800" dirty="0" err="1"/>
              <a:t>Benclumarking</a:t>
            </a:r>
            <a:r>
              <a:rPr lang="en-US" sz="1800" dirty="0"/>
              <a:t> </a:t>
            </a:r>
          </a:p>
          <a:p>
            <a:pPr marL="0" indent="0">
              <a:buNone/>
            </a:pPr>
            <a:r>
              <a:rPr lang="en-US" sz="1800" dirty="0"/>
              <a:t>d] </a:t>
            </a:r>
            <a:r>
              <a:rPr lang="en-US" sz="1800" dirty="0" err="1"/>
              <a:t>Cacle</a:t>
            </a:r>
            <a:r>
              <a:rPr lang="en-US" sz="1800" dirty="0"/>
              <a:t> Flow</a:t>
            </a:r>
            <a:endParaRPr lang="en-IN" sz="1800" dirty="0"/>
          </a:p>
        </p:txBody>
      </p:sp>
      <p:sp>
        <p:nvSpPr>
          <p:cNvPr id="8" name="TextBox 7">
            <a:extLst>
              <a:ext uri="{FF2B5EF4-FFF2-40B4-BE49-F238E27FC236}">
                <a16:creationId xmlns:a16="http://schemas.microsoft.com/office/drawing/2014/main" id="{9EB25998-C6C9-77D8-4131-AC33FDD2707B}"/>
              </a:ext>
            </a:extLst>
          </p:cNvPr>
          <p:cNvSpPr txBox="1"/>
          <p:nvPr/>
        </p:nvSpPr>
        <p:spPr>
          <a:xfrm>
            <a:off x="307975" y="2469309"/>
            <a:ext cx="6094476" cy="3693319"/>
          </a:xfrm>
          <a:prstGeom prst="rect">
            <a:avLst/>
          </a:prstGeom>
          <a:noFill/>
        </p:spPr>
        <p:txBody>
          <a:bodyPr wrap="square">
            <a:spAutoFit/>
          </a:bodyPr>
          <a:lstStyle/>
          <a:p>
            <a:r>
              <a:rPr lang="en-US" b="1" dirty="0"/>
              <a:t>a] Discovery</a:t>
            </a:r>
            <a:r>
              <a:rPr lang="en-US" dirty="0"/>
              <a:t> → ✅ </a:t>
            </a:r>
            <a:r>
              <a:rPr lang="en-US" b="1" dirty="0"/>
              <a:t>Correct!</a:t>
            </a:r>
            <a:r>
              <a:rPr lang="en-US" dirty="0"/>
              <a:t> Discovery algorithms help identify nearby fog/edge nodes dynamically, enabling efficient resource allocation.</a:t>
            </a:r>
          </a:p>
          <a:p>
            <a:r>
              <a:rPr lang="en-US" b="1" dirty="0"/>
              <a:t>b] Load balancing</a:t>
            </a:r>
            <a:r>
              <a:rPr lang="en-US" dirty="0"/>
              <a:t> → ✅ </a:t>
            </a:r>
            <a:r>
              <a:rPr lang="en-US" b="1" dirty="0"/>
              <a:t>Correct!</a:t>
            </a:r>
            <a:r>
              <a:rPr lang="en-US" dirty="0"/>
              <a:t> Load balancing algorithms distribute workloads efficiently across fog/edge nodes to prevent overload and ensure optimal performance.</a:t>
            </a:r>
          </a:p>
          <a:p>
            <a:r>
              <a:rPr lang="en-US" b="1" dirty="0"/>
              <a:t>c] </a:t>
            </a:r>
            <a:r>
              <a:rPr lang="en-US" b="1" dirty="0" err="1"/>
              <a:t>Benclumarking</a:t>
            </a:r>
            <a:r>
              <a:rPr lang="en-US" b="1" dirty="0"/>
              <a:t> (likely a typo for Benchmarking)</a:t>
            </a:r>
            <a:r>
              <a:rPr lang="en-US" dirty="0"/>
              <a:t> → ❌ </a:t>
            </a:r>
            <a:r>
              <a:rPr lang="en-US" b="1" dirty="0"/>
              <a:t>Incorrect.</a:t>
            </a:r>
            <a:r>
              <a:rPr lang="en-US" dirty="0"/>
              <a:t> Benchmarking is used for performance evaluation but is not an algorithm facilitating fog/edge computing.</a:t>
            </a:r>
          </a:p>
          <a:p>
            <a:r>
              <a:rPr lang="en-US" b="1" dirty="0"/>
              <a:t>d] </a:t>
            </a:r>
            <a:r>
              <a:rPr lang="en-US" b="1" dirty="0" err="1"/>
              <a:t>Cacle</a:t>
            </a:r>
            <a:r>
              <a:rPr lang="en-US" b="1" dirty="0"/>
              <a:t> Flow (possibly meant to be Cache Flow)</a:t>
            </a:r>
            <a:r>
              <a:rPr lang="en-US" dirty="0"/>
              <a:t> → ❌ </a:t>
            </a:r>
            <a:r>
              <a:rPr lang="en-US" b="1" dirty="0"/>
              <a:t>Incorrect.</a:t>
            </a:r>
            <a:r>
              <a:rPr lang="en-US" dirty="0"/>
              <a:t> Caching mechanisms help improve efficiency, but </a:t>
            </a:r>
            <a:r>
              <a:rPr lang="en-US" b="1" dirty="0"/>
              <a:t>Cache Flow is not a standard algorithm</a:t>
            </a:r>
            <a:r>
              <a:rPr lang="en-US" dirty="0"/>
              <a:t> in fog/edge computing.</a:t>
            </a:r>
          </a:p>
          <a:p>
            <a:r>
              <a:rPr lang="en-US" b="1" dirty="0"/>
              <a:t>Correct Answer: (a) Discovery and (b) Load balancing</a:t>
            </a:r>
          </a:p>
        </p:txBody>
      </p:sp>
    </p:spTree>
    <p:extLst>
      <p:ext uri="{BB962C8B-B14F-4D97-AF65-F5344CB8AC3E}">
        <p14:creationId xmlns:p14="http://schemas.microsoft.com/office/powerpoint/2010/main" val="1097021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7DD3228-5428-0291-16F6-03FA630F354A}"/>
              </a:ext>
            </a:extLst>
          </p:cNvPr>
          <p:cNvSpPr>
            <a:spLocks noGrp="1"/>
          </p:cNvSpPr>
          <p:nvPr>
            <p:ph idx="1"/>
          </p:nvPr>
        </p:nvSpPr>
        <p:spPr>
          <a:xfrm>
            <a:off x="262128" y="371729"/>
            <a:ext cx="10515600" cy="4351338"/>
          </a:xfrm>
        </p:spPr>
        <p:txBody>
          <a:bodyPr>
            <a:normAutofit/>
          </a:bodyPr>
          <a:lstStyle/>
          <a:p>
            <a:pPr marL="0" indent="0">
              <a:buNone/>
            </a:pPr>
            <a:r>
              <a:rPr lang="en-US" sz="1800" dirty="0"/>
              <a:t>6) ______ is a technique in which a server, an application and the associated data are moved on to the edge of the network </a:t>
            </a:r>
          </a:p>
          <a:p>
            <a:pPr marL="0" indent="0">
              <a:buNone/>
            </a:pPr>
            <a:r>
              <a:rPr lang="en-US" sz="1800" dirty="0"/>
              <a:t>a] containerization</a:t>
            </a:r>
          </a:p>
          <a:p>
            <a:pPr marL="0" indent="0">
              <a:buNone/>
            </a:pPr>
            <a:r>
              <a:rPr lang="en-US" sz="1800" dirty="0"/>
              <a:t>b] virtualization </a:t>
            </a:r>
          </a:p>
          <a:p>
            <a:pPr marL="0" indent="0">
              <a:buNone/>
            </a:pPr>
            <a:r>
              <a:rPr lang="en-US" sz="1800" dirty="0"/>
              <a:t>c] </a:t>
            </a:r>
            <a:r>
              <a:rPr lang="en-US" sz="1800" dirty="0" err="1"/>
              <a:t>offoading</a:t>
            </a:r>
            <a:r>
              <a:rPr lang="en-US" sz="1800" dirty="0"/>
              <a:t> </a:t>
            </a:r>
          </a:p>
          <a:p>
            <a:pPr marL="0" indent="0">
              <a:buNone/>
            </a:pPr>
            <a:r>
              <a:rPr lang="en-US" sz="1800" dirty="0"/>
              <a:t>d] none of these</a:t>
            </a:r>
            <a:endParaRPr lang="en-IN" sz="1800" dirty="0"/>
          </a:p>
        </p:txBody>
      </p:sp>
      <p:sp>
        <p:nvSpPr>
          <p:cNvPr id="5" name="TextBox 4">
            <a:extLst>
              <a:ext uri="{FF2B5EF4-FFF2-40B4-BE49-F238E27FC236}">
                <a16:creationId xmlns:a16="http://schemas.microsoft.com/office/drawing/2014/main" id="{105793E3-01FF-69A4-C219-907AF2DA8F35}"/>
              </a:ext>
            </a:extLst>
          </p:cNvPr>
          <p:cNvSpPr txBox="1"/>
          <p:nvPr/>
        </p:nvSpPr>
        <p:spPr>
          <a:xfrm>
            <a:off x="176022" y="2399943"/>
            <a:ext cx="6094476" cy="4801314"/>
          </a:xfrm>
          <a:prstGeom prst="rect">
            <a:avLst/>
          </a:prstGeom>
          <a:noFill/>
        </p:spPr>
        <p:txBody>
          <a:bodyPr wrap="square">
            <a:spAutoFit/>
          </a:bodyPr>
          <a:lstStyle/>
          <a:p>
            <a:r>
              <a:rPr lang="en-US" b="1" dirty="0"/>
              <a:t>c] Offloading ✅</a:t>
            </a:r>
          </a:p>
          <a:p>
            <a:r>
              <a:rPr lang="en-US" b="1" dirty="0"/>
              <a:t>Explanation:</a:t>
            </a:r>
          </a:p>
          <a:p>
            <a:pPr>
              <a:buFont typeface="Arial" panose="020B0604020202020204" pitchFamily="34" charset="0"/>
              <a:buChar char="•"/>
            </a:pPr>
            <a:r>
              <a:rPr lang="en-US" b="1" dirty="0"/>
              <a:t>Offloading</a:t>
            </a:r>
            <a:r>
              <a:rPr lang="en-US" dirty="0"/>
              <a:t> is a technique where a </a:t>
            </a:r>
            <a:r>
              <a:rPr lang="en-US" b="1" dirty="0"/>
              <a:t>server, an application, and its data</a:t>
            </a:r>
            <a:r>
              <a:rPr lang="en-US" dirty="0"/>
              <a:t> are moved closer to the edge of the network (e.g., edge devices or fog nodes). This reduces latency and improves processing speed by handling computations locally instead of relying on centralized cloud servers.</a:t>
            </a:r>
          </a:p>
          <a:p>
            <a:r>
              <a:rPr lang="en-US" b="1" dirty="0"/>
              <a:t>Analysis of Other Options:</a:t>
            </a:r>
          </a:p>
          <a:p>
            <a:pPr>
              <a:buFont typeface="Arial" panose="020B0604020202020204" pitchFamily="34" charset="0"/>
              <a:buChar char="•"/>
            </a:pPr>
            <a:r>
              <a:rPr lang="en-US" b="1" dirty="0"/>
              <a:t>a] Containerization</a:t>
            </a:r>
            <a:r>
              <a:rPr lang="en-US" dirty="0"/>
              <a:t> → ❌ </a:t>
            </a:r>
            <a:r>
              <a:rPr lang="en-US" b="1" dirty="0"/>
              <a:t>Incorrect.</a:t>
            </a:r>
            <a:r>
              <a:rPr lang="en-US" dirty="0"/>
              <a:t> Containerization packages applications into lightweight, portable containers but does not specifically move them to the edge.</a:t>
            </a:r>
          </a:p>
          <a:p>
            <a:pPr>
              <a:buFont typeface="Arial" panose="020B0604020202020204" pitchFamily="34" charset="0"/>
              <a:buChar char="•"/>
            </a:pPr>
            <a:r>
              <a:rPr lang="en-US" b="1" dirty="0"/>
              <a:t>b] Virtualization</a:t>
            </a:r>
            <a:r>
              <a:rPr lang="en-US" dirty="0"/>
              <a:t> → ❌ </a:t>
            </a:r>
            <a:r>
              <a:rPr lang="en-US" b="1" dirty="0"/>
              <a:t>Incorrect.</a:t>
            </a:r>
            <a:r>
              <a:rPr lang="en-US" dirty="0"/>
              <a:t> Virtualization enables multiple virtual machines (VMs) on a single physical machine but is not specifically about moving applications to the edge.</a:t>
            </a:r>
          </a:p>
          <a:p>
            <a:pPr>
              <a:buFont typeface="Arial" panose="020B0604020202020204" pitchFamily="34" charset="0"/>
              <a:buChar char="•"/>
            </a:pPr>
            <a:r>
              <a:rPr lang="en-US" b="1" dirty="0"/>
              <a:t>d] None of these</a:t>
            </a:r>
            <a:r>
              <a:rPr lang="en-US" dirty="0"/>
              <a:t> → ❌ </a:t>
            </a:r>
            <a:r>
              <a:rPr lang="en-US" b="1" dirty="0"/>
              <a:t>Incorrect.</a:t>
            </a:r>
            <a:r>
              <a:rPr lang="en-US" dirty="0"/>
              <a:t> Since </a:t>
            </a:r>
            <a:r>
              <a:rPr lang="en-US" b="1" dirty="0"/>
              <a:t>offloading</a:t>
            </a:r>
            <a:r>
              <a:rPr lang="en-US" dirty="0"/>
              <a:t> is the correct answer.</a:t>
            </a:r>
          </a:p>
          <a:p>
            <a:endParaRPr lang="en-US" b="1" dirty="0"/>
          </a:p>
        </p:txBody>
      </p:sp>
    </p:spTree>
    <p:extLst>
      <p:ext uri="{BB962C8B-B14F-4D97-AF65-F5344CB8AC3E}">
        <p14:creationId xmlns:p14="http://schemas.microsoft.com/office/powerpoint/2010/main" val="32812124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683E181A-6E84-CAD8-84DF-0E5472662321}"/>
              </a:ext>
            </a:extLst>
          </p:cNvPr>
          <p:cNvSpPr>
            <a:spLocks noGrp="1"/>
          </p:cNvSpPr>
          <p:nvPr>
            <p:ph idx="1"/>
          </p:nvPr>
        </p:nvSpPr>
        <p:spPr>
          <a:xfrm>
            <a:off x="344424" y="344297"/>
            <a:ext cx="10515600" cy="4351338"/>
          </a:xfrm>
        </p:spPr>
        <p:txBody>
          <a:bodyPr>
            <a:normAutofit/>
          </a:bodyPr>
          <a:lstStyle/>
          <a:p>
            <a:pPr marL="0" indent="0">
              <a:buNone/>
            </a:pPr>
            <a:r>
              <a:rPr lang="en-US" sz="1800" dirty="0"/>
              <a:t>7) cloud federation is the collaboration between cloud service providers to achieve which of the following? choose the most appropriate option </a:t>
            </a:r>
          </a:p>
          <a:p>
            <a:pPr marL="0" indent="0">
              <a:buNone/>
            </a:pPr>
            <a:r>
              <a:rPr lang="en-US" sz="1800" dirty="0"/>
              <a:t>a] capacity utilization </a:t>
            </a:r>
          </a:p>
          <a:p>
            <a:pPr marL="0" indent="0">
              <a:buNone/>
            </a:pPr>
            <a:r>
              <a:rPr lang="en-US" sz="1800" dirty="0"/>
              <a:t>b] interoperability </a:t>
            </a:r>
          </a:p>
          <a:p>
            <a:pPr marL="0" indent="0">
              <a:buNone/>
            </a:pPr>
            <a:r>
              <a:rPr lang="en-US" sz="1800" dirty="0"/>
              <a:t>c] </a:t>
            </a:r>
            <a:r>
              <a:rPr lang="en-US" sz="1800" dirty="0" err="1"/>
              <a:t>offoading</a:t>
            </a:r>
            <a:r>
              <a:rPr lang="en-US" sz="1800" dirty="0"/>
              <a:t> </a:t>
            </a:r>
          </a:p>
          <a:p>
            <a:pPr marL="0" indent="0">
              <a:buNone/>
            </a:pPr>
            <a:r>
              <a:rPr lang="en-US" sz="1800" dirty="0"/>
              <a:t>d] none of these</a:t>
            </a:r>
            <a:endParaRPr lang="en-IN" sz="1800" dirty="0"/>
          </a:p>
        </p:txBody>
      </p:sp>
      <p:sp>
        <p:nvSpPr>
          <p:cNvPr id="8" name="TextBox 7">
            <a:extLst>
              <a:ext uri="{FF2B5EF4-FFF2-40B4-BE49-F238E27FC236}">
                <a16:creationId xmlns:a16="http://schemas.microsoft.com/office/drawing/2014/main" id="{8C783794-8E91-2F5C-A6B9-3A617B9A1115}"/>
              </a:ext>
            </a:extLst>
          </p:cNvPr>
          <p:cNvSpPr txBox="1"/>
          <p:nvPr/>
        </p:nvSpPr>
        <p:spPr>
          <a:xfrm>
            <a:off x="240030" y="2389460"/>
            <a:ext cx="8547354" cy="4247317"/>
          </a:xfrm>
          <a:prstGeom prst="rect">
            <a:avLst/>
          </a:prstGeom>
          <a:noFill/>
        </p:spPr>
        <p:txBody>
          <a:bodyPr wrap="square">
            <a:spAutoFit/>
          </a:bodyPr>
          <a:lstStyle/>
          <a:p>
            <a:r>
              <a:rPr lang="en-US" b="1" dirty="0"/>
              <a:t>b] Interoperability ✅</a:t>
            </a:r>
          </a:p>
          <a:p>
            <a:r>
              <a:rPr lang="en-US" b="1" dirty="0"/>
              <a:t>Explanation:</a:t>
            </a:r>
          </a:p>
          <a:p>
            <a:r>
              <a:rPr lang="en-US" b="1" dirty="0"/>
              <a:t>Cloud Federation</a:t>
            </a:r>
            <a:r>
              <a:rPr lang="en-US" dirty="0"/>
              <a:t> is a collaboration between multiple </a:t>
            </a:r>
            <a:r>
              <a:rPr lang="en-US" b="1" dirty="0"/>
              <a:t>cloud service providers</a:t>
            </a:r>
            <a:r>
              <a:rPr lang="en-US" dirty="0"/>
              <a:t> to enable </a:t>
            </a:r>
            <a:r>
              <a:rPr lang="en-US" b="1" dirty="0"/>
              <a:t>interoperability</a:t>
            </a:r>
            <a:r>
              <a:rPr lang="en-US" dirty="0"/>
              <a:t>, allowing different cloud platforms to work together seamlessly. It ensures that resources can be shared and workloads can be distributed across multiple cloud environments efficiently.</a:t>
            </a:r>
          </a:p>
          <a:p>
            <a:r>
              <a:rPr lang="en-US" b="1" dirty="0"/>
              <a:t>Analysis of Other Options:</a:t>
            </a:r>
          </a:p>
          <a:p>
            <a:pPr>
              <a:buFont typeface="Arial" panose="020B0604020202020204" pitchFamily="34" charset="0"/>
              <a:buChar char="•"/>
            </a:pPr>
            <a:r>
              <a:rPr lang="en-US" b="1" dirty="0"/>
              <a:t>a] Capacity Utilization</a:t>
            </a:r>
            <a:r>
              <a:rPr lang="en-US" dirty="0"/>
              <a:t> → ❌ </a:t>
            </a:r>
            <a:r>
              <a:rPr lang="en-US" b="1" dirty="0"/>
              <a:t>Partially correct but not the best answer.</a:t>
            </a:r>
            <a:r>
              <a:rPr lang="en-US" dirty="0"/>
              <a:t> While cloud federation helps in optimizing resource utilization, its </a:t>
            </a:r>
            <a:r>
              <a:rPr lang="en-US" b="1" dirty="0"/>
              <a:t>main goal is interoperability</a:t>
            </a:r>
            <a:r>
              <a:rPr lang="en-US" dirty="0"/>
              <a:t> rather than just capacity utilization.</a:t>
            </a:r>
          </a:p>
          <a:p>
            <a:pPr>
              <a:buFont typeface="Arial" panose="020B0604020202020204" pitchFamily="34" charset="0"/>
              <a:buChar char="•"/>
            </a:pPr>
            <a:r>
              <a:rPr lang="en-US" b="1" dirty="0"/>
              <a:t>c] Offloading</a:t>
            </a:r>
            <a:r>
              <a:rPr lang="en-US" dirty="0"/>
              <a:t> → ❌ </a:t>
            </a:r>
            <a:r>
              <a:rPr lang="en-US" b="1" dirty="0"/>
              <a:t>Incorrect.</a:t>
            </a:r>
            <a:r>
              <a:rPr lang="en-US" dirty="0"/>
              <a:t> Offloading refers to shifting workloads to edge or fog computing, which is not the primary function of cloud federation.</a:t>
            </a:r>
          </a:p>
          <a:p>
            <a:pPr>
              <a:buFont typeface="Arial" panose="020B0604020202020204" pitchFamily="34" charset="0"/>
              <a:buChar char="•"/>
            </a:pPr>
            <a:r>
              <a:rPr lang="en-US" b="1" dirty="0"/>
              <a:t>d] None of these</a:t>
            </a:r>
            <a:r>
              <a:rPr lang="en-US" dirty="0"/>
              <a:t> → ❌ </a:t>
            </a:r>
            <a:r>
              <a:rPr lang="en-US" b="1" dirty="0"/>
              <a:t>Incorrect.</a:t>
            </a:r>
            <a:r>
              <a:rPr lang="en-US" dirty="0"/>
              <a:t> Since </a:t>
            </a:r>
            <a:r>
              <a:rPr lang="en-US" b="1" dirty="0"/>
              <a:t>interoperability</a:t>
            </a:r>
            <a:r>
              <a:rPr lang="en-US" dirty="0"/>
              <a:t> is the    most appropriate choice.</a:t>
            </a:r>
          </a:p>
          <a:p>
            <a:endParaRPr lang="en-US" b="1" dirty="0"/>
          </a:p>
        </p:txBody>
      </p:sp>
    </p:spTree>
    <p:extLst>
      <p:ext uri="{BB962C8B-B14F-4D97-AF65-F5344CB8AC3E}">
        <p14:creationId xmlns:p14="http://schemas.microsoft.com/office/powerpoint/2010/main" val="4417429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D5C8F5CE-09EF-3FBB-FAD2-99DC0E45DEF2}"/>
              </a:ext>
            </a:extLst>
          </p:cNvPr>
          <p:cNvSpPr txBox="1"/>
          <p:nvPr/>
        </p:nvSpPr>
        <p:spPr>
          <a:xfrm>
            <a:off x="578358" y="80872"/>
            <a:ext cx="6094476" cy="1754326"/>
          </a:xfrm>
          <a:prstGeom prst="rect">
            <a:avLst/>
          </a:prstGeom>
          <a:noFill/>
        </p:spPr>
        <p:txBody>
          <a:bodyPr wrap="square">
            <a:spAutoFit/>
          </a:bodyPr>
          <a:lstStyle/>
          <a:p>
            <a:r>
              <a:rPr lang="en-US" dirty="0"/>
              <a:t>8) Which of the following is false about loosely coupled federations?</a:t>
            </a:r>
          </a:p>
          <a:p>
            <a:r>
              <a:rPr lang="en-US" dirty="0"/>
              <a:t> a] Limited inter operations between cloud </a:t>
            </a:r>
            <a:r>
              <a:rPr lang="en-US" dirty="0" err="1"/>
              <a:t>instasnces</a:t>
            </a:r>
            <a:r>
              <a:rPr lang="en-US" dirty="0"/>
              <a:t> </a:t>
            </a:r>
          </a:p>
          <a:p>
            <a:r>
              <a:rPr lang="en-US" dirty="0"/>
              <a:t>b] usually no support for advanced features </a:t>
            </a:r>
          </a:p>
          <a:p>
            <a:r>
              <a:rPr lang="en-US" dirty="0"/>
              <a:t>c] Advanced control over remote </a:t>
            </a:r>
            <a:r>
              <a:rPr lang="en-US" dirty="0" err="1"/>
              <a:t>resourses</a:t>
            </a:r>
            <a:r>
              <a:rPr lang="en-US" dirty="0"/>
              <a:t> </a:t>
            </a:r>
          </a:p>
          <a:p>
            <a:r>
              <a:rPr lang="en-US" dirty="0"/>
              <a:t>d] none of these</a:t>
            </a:r>
            <a:endParaRPr lang="en-IN" dirty="0"/>
          </a:p>
        </p:txBody>
      </p:sp>
      <p:sp>
        <p:nvSpPr>
          <p:cNvPr id="11" name="TextBox 10">
            <a:extLst>
              <a:ext uri="{FF2B5EF4-FFF2-40B4-BE49-F238E27FC236}">
                <a16:creationId xmlns:a16="http://schemas.microsoft.com/office/drawing/2014/main" id="{2AFDBCFF-479F-5683-B7DD-7C3A8C1867DF}"/>
              </a:ext>
            </a:extLst>
          </p:cNvPr>
          <p:cNvSpPr txBox="1"/>
          <p:nvPr/>
        </p:nvSpPr>
        <p:spPr>
          <a:xfrm>
            <a:off x="386334" y="1835198"/>
            <a:ext cx="9498330" cy="3970318"/>
          </a:xfrm>
          <a:prstGeom prst="rect">
            <a:avLst/>
          </a:prstGeom>
          <a:noFill/>
        </p:spPr>
        <p:txBody>
          <a:bodyPr wrap="square">
            <a:spAutoFit/>
          </a:bodyPr>
          <a:lstStyle/>
          <a:p>
            <a:r>
              <a:rPr lang="en-US" b="1" dirty="0"/>
              <a:t>c] Advanced control over remote resources ✅ (False Statement)</a:t>
            </a:r>
          </a:p>
          <a:p>
            <a:r>
              <a:rPr lang="en-US" b="1" dirty="0"/>
              <a:t>Explanation:</a:t>
            </a:r>
          </a:p>
          <a:p>
            <a:r>
              <a:rPr lang="en-US" dirty="0"/>
              <a:t>Loosely coupled federations have </a:t>
            </a:r>
            <a:r>
              <a:rPr lang="en-US" b="1" dirty="0"/>
              <a:t>limited coordination</a:t>
            </a:r>
            <a:r>
              <a:rPr lang="en-US" dirty="0"/>
              <a:t> and </a:t>
            </a:r>
            <a:r>
              <a:rPr lang="en-US" b="1" dirty="0"/>
              <a:t>interoperability</a:t>
            </a:r>
            <a:r>
              <a:rPr lang="en-US" dirty="0"/>
              <a:t> between cloud instances. They typically </a:t>
            </a:r>
            <a:r>
              <a:rPr lang="en-US" b="1" dirty="0"/>
              <a:t>do not provide advanced control over remote resources</a:t>
            </a:r>
            <a:r>
              <a:rPr lang="en-US" dirty="0"/>
              <a:t>, as each cloud provider operates more independently.</a:t>
            </a:r>
          </a:p>
          <a:p>
            <a:r>
              <a:rPr lang="en-US" b="1" dirty="0"/>
              <a:t>Analysis of Other Options:</a:t>
            </a:r>
          </a:p>
          <a:p>
            <a:pPr>
              <a:buFont typeface="Arial" panose="020B0604020202020204" pitchFamily="34" charset="0"/>
              <a:buChar char="•"/>
            </a:pPr>
            <a:r>
              <a:rPr lang="en-US" b="1" dirty="0"/>
              <a:t>a] Limited interoperations between cloud instances</a:t>
            </a:r>
            <a:r>
              <a:rPr lang="en-US" dirty="0"/>
              <a:t> → ✅ </a:t>
            </a:r>
            <a:r>
              <a:rPr lang="en-US" b="1" dirty="0"/>
              <a:t>True.</a:t>
            </a:r>
            <a:r>
              <a:rPr lang="en-US" dirty="0"/>
              <a:t> Loosely coupled federations have minimal integration between different cloud providers.</a:t>
            </a:r>
          </a:p>
          <a:p>
            <a:pPr>
              <a:buFont typeface="Arial" panose="020B0604020202020204" pitchFamily="34" charset="0"/>
              <a:buChar char="•"/>
            </a:pPr>
            <a:r>
              <a:rPr lang="en-US" b="1" dirty="0"/>
              <a:t>b] Usually no support for advanced features</a:t>
            </a:r>
            <a:r>
              <a:rPr lang="en-US" dirty="0"/>
              <a:t> → ✅ </a:t>
            </a:r>
            <a:r>
              <a:rPr lang="en-US" b="1" dirty="0"/>
              <a:t>True.</a:t>
            </a:r>
            <a:r>
              <a:rPr lang="en-US" dirty="0"/>
              <a:t> These federations lack advanced management and automation features found in tightly coupled federations.</a:t>
            </a:r>
          </a:p>
          <a:p>
            <a:pPr>
              <a:buFont typeface="Arial" panose="020B0604020202020204" pitchFamily="34" charset="0"/>
              <a:buChar char="•"/>
            </a:pPr>
            <a:r>
              <a:rPr lang="en-US" b="1" dirty="0"/>
              <a:t>c] Advanced control over remote resources</a:t>
            </a:r>
            <a:r>
              <a:rPr lang="en-US" dirty="0"/>
              <a:t> → ❌ </a:t>
            </a:r>
            <a:r>
              <a:rPr lang="en-US" b="1" dirty="0"/>
              <a:t>False.</a:t>
            </a:r>
            <a:r>
              <a:rPr lang="en-US" dirty="0"/>
              <a:t> Loosely coupled federations do </a:t>
            </a:r>
            <a:r>
              <a:rPr lang="en-US" b="1" dirty="0"/>
              <a:t>not</a:t>
            </a:r>
            <a:r>
              <a:rPr lang="en-US" dirty="0"/>
              <a:t> provide advanced control over remote resources, as each cloud retains more autonomy.</a:t>
            </a:r>
          </a:p>
          <a:p>
            <a:pPr>
              <a:buFont typeface="Arial" panose="020B0604020202020204" pitchFamily="34" charset="0"/>
              <a:buChar char="•"/>
            </a:pPr>
            <a:r>
              <a:rPr lang="en-US" b="1" dirty="0"/>
              <a:t>d] None of these</a:t>
            </a:r>
            <a:r>
              <a:rPr lang="en-US" dirty="0"/>
              <a:t> → ❌ </a:t>
            </a:r>
            <a:r>
              <a:rPr lang="en-US" b="1" dirty="0"/>
              <a:t>Incorrect, since option (c) is false.</a:t>
            </a:r>
            <a:endParaRPr lang="en-US" dirty="0"/>
          </a:p>
          <a:p>
            <a:r>
              <a:rPr lang="en-US" b="1" dirty="0"/>
              <a:t>Final Answer: (c) Advanced control over remote resources ✅ (False)</a:t>
            </a:r>
          </a:p>
        </p:txBody>
      </p:sp>
    </p:spTree>
    <p:extLst>
      <p:ext uri="{BB962C8B-B14F-4D97-AF65-F5344CB8AC3E}">
        <p14:creationId xmlns:p14="http://schemas.microsoft.com/office/powerpoint/2010/main" val="11551360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855B486-7E0F-9E3C-F0BA-F67BCE2F47CA}"/>
              </a:ext>
            </a:extLst>
          </p:cNvPr>
          <p:cNvSpPr>
            <a:spLocks noGrp="1"/>
          </p:cNvSpPr>
          <p:nvPr>
            <p:ph idx="1"/>
          </p:nvPr>
        </p:nvSpPr>
        <p:spPr>
          <a:xfrm>
            <a:off x="307848" y="344297"/>
            <a:ext cx="10515600" cy="4351338"/>
          </a:xfrm>
        </p:spPr>
        <p:txBody>
          <a:bodyPr>
            <a:normAutofit/>
          </a:bodyPr>
          <a:lstStyle/>
          <a:p>
            <a:pPr marL="0" indent="0">
              <a:buNone/>
            </a:pPr>
            <a:r>
              <a:rPr lang="en-US" sz="1800" dirty="0"/>
              <a:t>9) In which of the following different CSPs </a:t>
            </a:r>
            <a:r>
              <a:rPr lang="en-US" sz="1800" dirty="0" err="1"/>
              <a:t>estabilish</a:t>
            </a:r>
            <a:r>
              <a:rPr lang="en-US" sz="1800" dirty="0"/>
              <a:t> an agreement string the terms and conditions under which one partner cloud can use </a:t>
            </a:r>
            <a:r>
              <a:rPr lang="en-US" sz="1800" dirty="0" err="1"/>
              <a:t>resourses</a:t>
            </a:r>
            <a:r>
              <a:rPr lang="en-US" sz="1800" dirty="0"/>
              <a:t> from another </a:t>
            </a:r>
          </a:p>
          <a:p>
            <a:pPr marL="0" indent="0">
              <a:buNone/>
            </a:pPr>
            <a:r>
              <a:rPr lang="en-US" sz="1800" dirty="0"/>
              <a:t>a] loosely coupled federation </a:t>
            </a:r>
          </a:p>
          <a:p>
            <a:pPr marL="0" indent="0">
              <a:buNone/>
            </a:pPr>
            <a:r>
              <a:rPr lang="en-US" sz="1800" dirty="0"/>
              <a:t>b] partially coupled federation</a:t>
            </a:r>
          </a:p>
          <a:p>
            <a:pPr marL="0" indent="0">
              <a:buNone/>
            </a:pPr>
            <a:r>
              <a:rPr lang="en-US" sz="1800" dirty="0"/>
              <a:t>c] tightly coupled federation </a:t>
            </a:r>
          </a:p>
          <a:p>
            <a:pPr marL="0" indent="0">
              <a:buNone/>
            </a:pPr>
            <a:r>
              <a:rPr lang="en-US" sz="1800" dirty="0"/>
              <a:t>d] all of these</a:t>
            </a:r>
            <a:endParaRPr lang="en-IN" sz="1800" dirty="0"/>
          </a:p>
        </p:txBody>
      </p:sp>
      <p:sp>
        <p:nvSpPr>
          <p:cNvPr id="6" name="TextBox 5">
            <a:extLst>
              <a:ext uri="{FF2B5EF4-FFF2-40B4-BE49-F238E27FC236}">
                <a16:creationId xmlns:a16="http://schemas.microsoft.com/office/drawing/2014/main" id="{D8EDFEF0-DA80-8D18-003A-7A0CB416E964}"/>
              </a:ext>
            </a:extLst>
          </p:cNvPr>
          <p:cNvSpPr txBox="1"/>
          <p:nvPr/>
        </p:nvSpPr>
        <p:spPr>
          <a:xfrm>
            <a:off x="307848" y="2519966"/>
            <a:ext cx="9101328" cy="3970318"/>
          </a:xfrm>
          <a:prstGeom prst="rect">
            <a:avLst/>
          </a:prstGeom>
          <a:noFill/>
        </p:spPr>
        <p:txBody>
          <a:bodyPr wrap="square">
            <a:spAutoFit/>
          </a:bodyPr>
          <a:lstStyle/>
          <a:p>
            <a:r>
              <a:rPr lang="en-US" b="1" dirty="0"/>
              <a:t>c] Tightly Coupled Federation ✅</a:t>
            </a:r>
          </a:p>
          <a:p>
            <a:r>
              <a:rPr lang="en-US" b="1" dirty="0"/>
              <a:t>Explanation:</a:t>
            </a:r>
          </a:p>
          <a:p>
            <a:r>
              <a:rPr lang="en-US" dirty="0"/>
              <a:t>In a </a:t>
            </a:r>
            <a:r>
              <a:rPr lang="en-US" b="1" dirty="0"/>
              <a:t>tightly coupled federation</a:t>
            </a:r>
            <a:r>
              <a:rPr lang="en-US" dirty="0"/>
              <a:t>, different </a:t>
            </a:r>
            <a:r>
              <a:rPr lang="en-US" b="1" dirty="0"/>
              <a:t>Cloud Service Providers (CSPs)</a:t>
            </a:r>
            <a:r>
              <a:rPr lang="en-US" dirty="0"/>
              <a:t> establish a formal </a:t>
            </a:r>
            <a:r>
              <a:rPr lang="en-US" b="1" dirty="0"/>
              <a:t>agreement</a:t>
            </a:r>
            <a:r>
              <a:rPr lang="en-US" dirty="0"/>
              <a:t> defining the </a:t>
            </a:r>
            <a:r>
              <a:rPr lang="en-US" b="1" dirty="0"/>
              <a:t>terms and conditions</a:t>
            </a:r>
            <a:r>
              <a:rPr lang="en-US" dirty="0"/>
              <a:t> under which one cloud can use resources from another. This enables </a:t>
            </a:r>
            <a:r>
              <a:rPr lang="en-US" b="1" dirty="0"/>
              <a:t>seamless interoperability, resource sharing, and advanced features</a:t>
            </a:r>
            <a:r>
              <a:rPr lang="en-US" dirty="0"/>
              <a:t> across multiple cloud platforms.</a:t>
            </a:r>
          </a:p>
          <a:p>
            <a:r>
              <a:rPr lang="en-US" b="1" dirty="0"/>
              <a:t>Analysis of Other Options:</a:t>
            </a:r>
          </a:p>
          <a:p>
            <a:pPr>
              <a:buFont typeface="Arial" panose="020B0604020202020204" pitchFamily="34" charset="0"/>
              <a:buChar char="•"/>
            </a:pPr>
            <a:r>
              <a:rPr lang="en-US" b="1" dirty="0"/>
              <a:t>a] Loosely Coupled Federation</a:t>
            </a:r>
            <a:r>
              <a:rPr lang="en-US" dirty="0"/>
              <a:t> → ❌ </a:t>
            </a:r>
            <a:r>
              <a:rPr lang="en-US" b="1" dirty="0"/>
              <a:t>Incorrect.</a:t>
            </a:r>
            <a:r>
              <a:rPr lang="en-US" dirty="0"/>
              <a:t> Loosely coupled federations have </a:t>
            </a:r>
            <a:r>
              <a:rPr lang="en-US" b="1" dirty="0"/>
              <a:t>minimal agreements</a:t>
            </a:r>
            <a:r>
              <a:rPr lang="en-US" dirty="0"/>
              <a:t> and limited interoperability between cloud providers.</a:t>
            </a:r>
          </a:p>
          <a:p>
            <a:pPr>
              <a:buFont typeface="Arial" panose="020B0604020202020204" pitchFamily="34" charset="0"/>
              <a:buChar char="•"/>
            </a:pPr>
            <a:r>
              <a:rPr lang="en-US" b="1" dirty="0"/>
              <a:t>b] Partially Coupled Federation</a:t>
            </a:r>
            <a:r>
              <a:rPr lang="en-US" dirty="0"/>
              <a:t> → ❌ </a:t>
            </a:r>
            <a:r>
              <a:rPr lang="en-US" b="1" dirty="0"/>
              <a:t>Incorrect.</a:t>
            </a:r>
            <a:r>
              <a:rPr lang="en-US" dirty="0"/>
              <a:t> While these federations may have some level of coordination, they do </a:t>
            </a:r>
            <a:r>
              <a:rPr lang="en-US" b="1" dirty="0"/>
              <a:t>not involve strict agreements</a:t>
            </a:r>
            <a:r>
              <a:rPr lang="en-US" dirty="0"/>
              <a:t> like tightly coupled federations.</a:t>
            </a:r>
          </a:p>
          <a:p>
            <a:pPr>
              <a:buFont typeface="Arial" panose="020B0604020202020204" pitchFamily="34" charset="0"/>
              <a:buChar char="•"/>
            </a:pPr>
            <a:r>
              <a:rPr lang="en-US" b="1" dirty="0"/>
              <a:t>d] All of these</a:t>
            </a:r>
            <a:r>
              <a:rPr lang="en-US" dirty="0"/>
              <a:t> → ❌ </a:t>
            </a:r>
            <a:r>
              <a:rPr lang="en-US" b="1" dirty="0"/>
              <a:t>Incorrect.</a:t>
            </a:r>
            <a:r>
              <a:rPr lang="en-US" dirty="0"/>
              <a:t> Since </a:t>
            </a:r>
            <a:r>
              <a:rPr lang="en-US" b="1" dirty="0"/>
              <a:t>only tightly coupled federations</a:t>
            </a:r>
            <a:r>
              <a:rPr lang="en-US" dirty="0"/>
              <a:t> establish such formal agreements.</a:t>
            </a:r>
          </a:p>
          <a:p>
            <a:r>
              <a:rPr lang="en-US" b="1" dirty="0"/>
              <a:t>Final Answer: (c) Tightly Coupled Federation ✅</a:t>
            </a:r>
          </a:p>
        </p:txBody>
      </p:sp>
    </p:spTree>
    <p:extLst>
      <p:ext uri="{BB962C8B-B14F-4D97-AF65-F5344CB8AC3E}">
        <p14:creationId xmlns:p14="http://schemas.microsoft.com/office/powerpoint/2010/main" val="142283804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349C4AAB-E2D0-044B-2899-6AC3BEA251B3}"/>
              </a:ext>
            </a:extLst>
          </p:cNvPr>
          <p:cNvSpPr txBox="1"/>
          <p:nvPr/>
        </p:nvSpPr>
        <p:spPr>
          <a:xfrm>
            <a:off x="240030" y="158788"/>
            <a:ext cx="6094476" cy="1754326"/>
          </a:xfrm>
          <a:prstGeom prst="rect">
            <a:avLst/>
          </a:prstGeom>
          <a:noFill/>
        </p:spPr>
        <p:txBody>
          <a:bodyPr wrap="square">
            <a:spAutoFit/>
          </a:bodyPr>
          <a:lstStyle/>
          <a:p>
            <a:r>
              <a:rPr lang="en-US" dirty="0"/>
              <a:t>10) Hybrid </a:t>
            </a:r>
            <a:r>
              <a:rPr lang="en-US" dirty="0" err="1"/>
              <a:t>architecure</a:t>
            </a:r>
            <a:r>
              <a:rPr lang="en-US" dirty="0"/>
              <a:t> combines the existing on-premise </a:t>
            </a:r>
            <a:r>
              <a:rPr lang="en-US" dirty="0" err="1"/>
              <a:t>infrastrructure</a:t>
            </a:r>
            <a:r>
              <a:rPr lang="en-US" dirty="0"/>
              <a:t> (usually a private cloud) with remote resources from one or more public clouds to provide extra capacity to satisfy peak demand periods </a:t>
            </a:r>
          </a:p>
          <a:p>
            <a:r>
              <a:rPr lang="en-US" dirty="0"/>
              <a:t>a] True </a:t>
            </a:r>
          </a:p>
          <a:p>
            <a:r>
              <a:rPr lang="en-US" dirty="0"/>
              <a:t>b] False</a:t>
            </a:r>
            <a:endParaRPr lang="en-IN" dirty="0"/>
          </a:p>
        </p:txBody>
      </p:sp>
      <p:sp>
        <p:nvSpPr>
          <p:cNvPr id="8" name="TextBox 7">
            <a:extLst>
              <a:ext uri="{FF2B5EF4-FFF2-40B4-BE49-F238E27FC236}">
                <a16:creationId xmlns:a16="http://schemas.microsoft.com/office/drawing/2014/main" id="{442348B0-045D-C2AA-2072-5D6714BA370F}"/>
              </a:ext>
            </a:extLst>
          </p:cNvPr>
          <p:cNvSpPr txBox="1"/>
          <p:nvPr/>
        </p:nvSpPr>
        <p:spPr>
          <a:xfrm>
            <a:off x="240030" y="2030397"/>
            <a:ext cx="6094476" cy="3693319"/>
          </a:xfrm>
          <a:prstGeom prst="rect">
            <a:avLst/>
          </a:prstGeom>
          <a:noFill/>
        </p:spPr>
        <p:txBody>
          <a:bodyPr wrap="square">
            <a:spAutoFit/>
          </a:bodyPr>
          <a:lstStyle/>
          <a:p>
            <a:r>
              <a:rPr lang="en-US" b="1" dirty="0"/>
              <a:t>Correct Answer: (a) True ✅</a:t>
            </a:r>
          </a:p>
          <a:p>
            <a:r>
              <a:rPr lang="en-US" b="1" dirty="0"/>
              <a:t>Explanation:</a:t>
            </a:r>
          </a:p>
          <a:p>
            <a:r>
              <a:rPr lang="en-US" dirty="0"/>
              <a:t>A </a:t>
            </a:r>
            <a:r>
              <a:rPr lang="en-US" b="1" dirty="0"/>
              <a:t>hybrid cloud architecture</a:t>
            </a:r>
            <a:r>
              <a:rPr lang="en-US" dirty="0"/>
              <a:t> combines an organization's </a:t>
            </a:r>
            <a:r>
              <a:rPr lang="en-US" b="1" dirty="0"/>
              <a:t>on-premise infrastructure (private cloud)</a:t>
            </a:r>
            <a:r>
              <a:rPr lang="en-US" dirty="0"/>
              <a:t> with </a:t>
            </a:r>
            <a:r>
              <a:rPr lang="en-US" b="1" dirty="0"/>
              <a:t>public cloud resources</a:t>
            </a:r>
            <a:r>
              <a:rPr lang="en-US" dirty="0"/>
              <a:t> to provide </a:t>
            </a:r>
            <a:r>
              <a:rPr lang="en-US" b="1" dirty="0"/>
              <a:t>scalability and flexibility</a:t>
            </a:r>
            <a:r>
              <a:rPr lang="en-US" dirty="0"/>
              <a:t>. This approach allows businesses to:</a:t>
            </a:r>
          </a:p>
          <a:p>
            <a:pPr>
              <a:buFont typeface="Arial" panose="020B0604020202020204" pitchFamily="34" charset="0"/>
              <a:buChar char="•"/>
            </a:pPr>
            <a:r>
              <a:rPr lang="en-US" b="1" dirty="0"/>
              <a:t>Scale up</a:t>
            </a:r>
            <a:r>
              <a:rPr lang="en-US" dirty="0"/>
              <a:t> by using public cloud resources during </a:t>
            </a:r>
            <a:r>
              <a:rPr lang="en-US" b="1" dirty="0"/>
              <a:t>peak demand periods</a:t>
            </a:r>
            <a:r>
              <a:rPr lang="en-US" dirty="0"/>
              <a:t>.</a:t>
            </a:r>
          </a:p>
          <a:p>
            <a:pPr>
              <a:buFont typeface="Arial" panose="020B0604020202020204" pitchFamily="34" charset="0"/>
              <a:buChar char="•"/>
            </a:pPr>
            <a:r>
              <a:rPr lang="en-US" b="1" dirty="0"/>
              <a:t>Keep sensitive data</a:t>
            </a:r>
            <a:r>
              <a:rPr lang="en-US" dirty="0"/>
              <a:t> on a private cloud while leveraging public cloud services for less critical workloads.</a:t>
            </a:r>
          </a:p>
          <a:p>
            <a:pPr>
              <a:buFont typeface="Arial" panose="020B0604020202020204" pitchFamily="34" charset="0"/>
              <a:buChar char="•"/>
            </a:pPr>
            <a:r>
              <a:rPr lang="en-US" b="1" dirty="0"/>
              <a:t>Optimize costs</a:t>
            </a:r>
            <a:r>
              <a:rPr lang="en-US" dirty="0"/>
              <a:t> by utilizing a mix of private and public cloud infrastructure.</a:t>
            </a:r>
          </a:p>
          <a:p>
            <a:r>
              <a:rPr lang="en-US" dirty="0"/>
              <a:t>Thus, the statement is </a:t>
            </a:r>
            <a:r>
              <a:rPr lang="en-US" b="1" dirty="0"/>
              <a:t>TRUE</a:t>
            </a:r>
            <a:r>
              <a:rPr lang="en-US" dirty="0"/>
              <a:t>. ✅</a:t>
            </a:r>
          </a:p>
        </p:txBody>
      </p:sp>
    </p:spTree>
    <p:extLst>
      <p:ext uri="{BB962C8B-B14F-4D97-AF65-F5344CB8AC3E}">
        <p14:creationId xmlns:p14="http://schemas.microsoft.com/office/powerpoint/2010/main" val="15179771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TotalTime>
  <Words>1694</Words>
  <Application>Microsoft Office PowerPoint</Application>
  <PresentationFormat>Widescreen</PresentationFormat>
  <Paragraphs>111</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1) which of the following statements is/are false? a] fog and edge computing are substitutes for cloud computing  b] fog and edge computing may aid cloud computing in overcoming some of the limitations like latency issuues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shivam yadav</dc:creator>
  <cp:lastModifiedBy>shivam yadav</cp:lastModifiedBy>
  <cp:revision>2</cp:revision>
  <dcterms:created xsi:type="dcterms:W3CDTF">2025-03-24T13:53:41Z</dcterms:created>
  <dcterms:modified xsi:type="dcterms:W3CDTF">2025-04-01T12:58:08Z</dcterms:modified>
</cp:coreProperties>
</file>